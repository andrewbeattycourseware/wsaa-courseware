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34706-5787-4D01-8824-B3D49CE06630}" v="17" dt="2026-03-26T15:15:47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delSld modSld">
      <pc:chgData name="Andrew Beatty" userId="ddf183e3-d1da-49e1-9619-81ceb6b4ef92" providerId="ADAL" clId="{0A9FA626-7B66-484A-9EFA-B61C399DD8F4}" dt="2026-03-26T15:15:56.958" v="178" actId="47"/>
      <pc:docMkLst>
        <pc:docMk/>
      </pc:docMkLst>
      <pc:sldChg chg="addSp delSp modSp mod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672942965" sldId="256"/>
        </pc:sldMkLst>
        <pc:spChg chg="mod">
          <ac:chgData name="Andrew Beatty" userId="ddf183e3-d1da-49e1-9619-81ceb6b4ef92" providerId="ADAL" clId="{0A9FA626-7B66-484A-9EFA-B61C399DD8F4}" dt="2026-03-21T16:14:48.309" v="159" actId="20577"/>
          <ac:spMkLst>
            <pc:docMk/>
            <pc:sldMk cId="672942965" sldId="256"/>
            <ac:spMk id="3" creationId="{82BA0187-943E-493D-89A2-2BF8F8A8136D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672942965" sldId="256"/>
            <ac:picMk id="7" creationId="{E924AD7A-D4E6-8CC2-9381-0989BB1271E0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1443558305" sldId="257"/>
        </pc:sldMkLst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1443558305" sldId="257"/>
            <ac:picMk id="9" creationId="{AE6F089E-5252-671A-0AB2-F11530E76552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178549786" sldId="258"/>
        </pc:sldMkLst>
        <pc:spChg chg="mod">
          <ac:chgData name="Andrew Beatty" userId="ddf183e3-d1da-49e1-9619-81ceb6b4ef92" providerId="ADAL" clId="{0A9FA626-7B66-484A-9EFA-B61C399DD8F4}" dt="2026-03-21T16:21:36.700" v="163"/>
          <ac:spMkLst>
            <pc:docMk/>
            <pc:sldMk cId="178549786" sldId="258"/>
            <ac:spMk id="4" creationId="{ACC176BE-DE48-45E8-B4E2-2A6433DDA5E7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178549786" sldId="258"/>
            <ac:picMk id="7" creationId="{A48BD671-0226-F6F8-6006-3D1E01622302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2589212520" sldId="259"/>
        </pc:sldMkLst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2589212520" sldId="259"/>
            <ac:picMk id="7" creationId="{7F7B7B90-E193-8336-5ED5-8A0881572358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127140935" sldId="260"/>
        </pc:sldMkLst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127140935" sldId="260"/>
            <ac:picMk id="6" creationId="{7807EA89-910D-B295-A84C-58244B339CF9}"/>
          </ac:picMkLst>
        </pc:picChg>
      </pc:sldChg>
      <pc:sldChg chg="addSp delSp modSp mod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4220452967" sldId="261"/>
        </pc:sldMkLst>
        <pc:spChg chg="mod">
          <ac:chgData name="Andrew Beatty" userId="ddf183e3-d1da-49e1-9619-81ceb6b4ef92" providerId="ADAL" clId="{0A9FA626-7B66-484A-9EFA-B61C399DD8F4}" dt="2026-03-21T16:01:10.888" v="3" actId="20577"/>
          <ac:spMkLst>
            <pc:docMk/>
            <pc:sldMk cId="4220452967" sldId="261"/>
            <ac:spMk id="3" creationId="{040454C8-F69A-4F31-AF66-D7247AA97FDE}"/>
          </ac:spMkLst>
        </pc:spChg>
        <pc:spChg chg="mod">
          <ac:chgData name="Andrew Beatty" userId="ddf183e3-d1da-49e1-9619-81ceb6b4ef92" providerId="ADAL" clId="{0A9FA626-7B66-484A-9EFA-B61C399DD8F4}" dt="2026-03-21T16:21:30.542" v="162"/>
          <ac:spMkLst>
            <pc:docMk/>
            <pc:sldMk cId="4220452967" sldId="261"/>
            <ac:spMk id="5" creationId="{F2DD9D4A-8D07-4CAD-946A-219AAF44B804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4220452967" sldId="261"/>
            <ac:picMk id="8" creationId="{C11FDF48-825E-5840-1D74-0D99A0C61188}"/>
          </ac:picMkLst>
        </pc:picChg>
      </pc:sldChg>
      <pc:sldChg chg="addSp delSp modSp mod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3478136686" sldId="262"/>
        </pc:sldMkLst>
        <pc:spChg chg="mod">
          <ac:chgData name="Andrew Beatty" userId="ddf183e3-d1da-49e1-9619-81ceb6b4ef92" providerId="ADAL" clId="{0A9FA626-7B66-484A-9EFA-B61C399DD8F4}" dt="2026-03-21T16:01:25.444" v="4" actId="14100"/>
          <ac:spMkLst>
            <pc:docMk/>
            <pc:sldMk cId="3478136686" sldId="262"/>
            <ac:spMk id="3" creationId="{0444C118-A941-4D3C-A5DB-AE464C476025}"/>
          </ac:spMkLst>
        </pc:spChg>
        <pc:spChg chg="mod">
          <ac:chgData name="Andrew Beatty" userId="ddf183e3-d1da-49e1-9619-81ceb6b4ef92" providerId="ADAL" clId="{0A9FA626-7B66-484A-9EFA-B61C399DD8F4}" dt="2026-03-21T16:21:23.045" v="161"/>
          <ac:spMkLst>
            <pc:docMk/>
            <pc:sldMk cId="3478136686" sldId="262"/>
            <ac:spMk id="4" creationId="{1B540982-4757-4B2B-A043-76573D62BD58}"/>
          </ac:spMkLst>
        </pc:spChg>
        <pc:spChg chg="add mod">
          <ac:chgData name="Andrew Beatty" userId="ddf183e3-d1da-49e1-9619-81ceb6b4ef92" providerId="ADAL" clId="{0A9FA626-7B66-484A-9EFA-B61C399DD8F4}" dt="2026-03-21T16:02:35.532" v="73" actId="1076"/>
          <ac:spMkLst>
            <pc:docMk/>
            <pc:sldMk cId="3478136686" sldId="262"/>
            <ac:spMk id="5" creationId="{5F639CA1-878F-7D1E-A3F3-E8F9A1508150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3478136686" sldId="262"/>
            <ac:picMk id="7" creationId="{4CE72BEB-22BE-F904-1EBF-9C6D0131F7B3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2609010993" sldId="263"/>
        </pc:sldMkLst>
        <pc:spChg chg="mod">
          <ac:chgData name="Andrew Beatty" userId="ddf183e3-d1da-49e1-9619-81ceb6b4ef92" providerId="ADAL" clId="{0A9FA626-7B66-484A-9EFA-B61C399DD8F4}" dt="2026-03-21T16:04:48.220" v="74"/>
          <ac:spMkLst>
            <pc:docMk/>
            <pc:sldMk cId="2609010993" sldId="263"/>
            <ac:spMk id="5" creationId="{1363DA70-C43E-4857-A139-1C23E764F0D7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2609010993" sldId="263"/>
            <ac:picMk id="4" creationId="{82453B12-1B07-FD8D-D1A9-9310A60155F3}"/>
          </ac:picMkLst>
        </pc:picChg>
      </pc:sldChg>
      <pc:sldChg chg="addSp delSp modSp del mod modTransition delAnim modAnim">
        <pc:chgData name="Andrew Beatty" userId="ddf183e3-d1da-49e1-9619-81ceb6b4ef92" providerId="ADAL" clId="{0A9FA626-7B66-484A-9EFA-B61C399DD8F4}" dt="2026-03-26T15:15:54.559" v="177" actId="47"/>
        <pc:sldMkLst>
          <pc:docMk/>
          <pc:sldMk cId="1771981694" sldId="264"/>
        </pc:sldMkLst>
      </pc:sldChg>
      <pc:sldChg chg="addSp delSp modSp mod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677752271" sldId="265"/>
        </pc:sldMkLst>
        <pc:spChg chg="mod">
          <ac:chgData name="Andrew Beatty" userId="ddf183e3-d1da-49e1-9619-81ceb6b4ef92" providerId="ADAL" clId="{0A9FA626-7B66-484A-9EFA-B61C399DD8F4}" dt="2026-03-21T16:09:43.822" v="75" actId="6549"/>
          <ac:spMkLst>
            <pc:docMk/>
            <pc:sldMk cId="677752271" sldId="265"/>
            <ac:spMk id="2" creationId="{D83CD30B-0D7E-4AEA-9505-E865F9C69F21}"/>
          </ac:spMkLst>
        </pc:spChg>
        <pc:spChg chg="mod">
          <ac:chgData name="Andrew Beatty" userId="ddf183e3-d1da-49e1-9619-81ceb6b4ef92" providerId="ADAL" clId="{0A9FA626-7B66-484A-9EFA-B61C399DD8F4}" dt="2026-03-21T16:10:04.870" v="107" actId="20577"/>
          <ac:spMkLst>
            <pc:docMk/>
            <pc:sldMk cId="677752271" sldId="265"/>
            <ac:spMk id="3" creationId="{5F5BA7C9-3DB5-4133-8264-CB0ACD3D1B67}"/>
          </ac:spMkLst>
        </pc:spChg>
        <pc:spChg chg="mod">
          <ac:chgData name="Andrew Beatty" userId="ddf183e3-d1da-49e1-9619-81ceb6b4ef92" providerId="ADAL" clId="{0A9FA626-7B66-484A-9EFA-B61C399DD8F4}" dt="2026-03-21T16:13:06.898" v="127" actId="1076"/>
          <ac:spMkLst>
            <pc:docMk/>
            <pc:sldMk cId="677752271" sldId="265"/>
            <ac:spMk id="5" creationId="{7B3C97C1-4638-420F-88F3-17DF7ED188CE}"/>
          </ac:spMkLst>
        </pc:spChg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677752271" sldId="265"/>
            <ac:picMk id="9" creationId="{F19483DC-6EF8-B0B9-45DC-CA934436D712}"/>
          </ac:picMkLst>
        </pc:picChg>
      </pc:sldChg>
      <pc:sldChg chg="addSp delSp modSp del mod modTransition delAnim modAnim">
        <pc:chgData name="Andrew Beatty" userId="ddf183e3-d1da-49e1-9619-81ceb6b4ef92" providerId="ADAL" clId="{0A9FA626-7B66-484A-9EFA-B61C399DD8F4}" dt="2026-03-26T15:15:56.958" v="178" actId="47"/>
        <pc:sldMkLst>
          <pc:docMk/>
          <pc:sldMk cId="2180594643" sldId="266"/>
        </pc:sldMkLst>
        <pc:picChg chg="add mod">
          <ac:chgData name="Andrew Beatty" userId="ddf183e3-d1da-49e1-9619-81ceb6b4ef92" providerId="ADAL" clId="{0A9FA626-7B66-484A-9EFA-B61C399DD8F4}" dt="2026-03-21T16:32:49.788" v="174" actId="1076"/>
          <ac:picMkLst>
            <pc:docMk/>
            <pc:sldMk cId="2180594643" sldId="266"/>
            <ac:picMk id="7" creationId="{A2708953-51BF-49AC-FB42-46EF14773ABE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5:47.293" v="176"/>
        <pc:sldMkLst>
          <pc:docMk/>
          <pc:sldMk cId="370573069" sldId="267"/>
        </pc:sldMkLst>
        <pc:picChg chg="add del mod">
          <ac:chgData name="Andrew Beatty" userId="ddf183e3-d1da-49e1-9619-81ceb6b4ef92" providerId="ADAL" clId="{0A9FA626-7B66-484A-9EFA-B61C399DD8F4}" dt="2026-03-26T15:15:47.293" v="176"/>
          <ac:picMkLst>
            <pc:docMk/>
            <pc:sldMk cId="370573069" sldId="267"/>
            <ac:picMk id="7" creationId="{DC2489E8-6742-27DC-315F-0F4CCAC381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gmit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ajax_intro.asp" TargetMode="External"/><Relationship Id="rId2" Type="http://schemas.openxmlformats.org/officeDocument/2006/relationships/hyperlink" Target="https://www.w3schools.com/xml/ajax_intro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v.uk/bank-holidays.js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v.uk/bank-holidays.js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v.uk/bank-holidays.js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v.uk/bank-holidays.js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1761-E1A9-46A0-99F2-75D5B653B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AJAX </a:t>
            </a:r>
            <a:r>
              <a:rPr lang="en-IE" sz="2800" dirty="0"/>
              <a:t>(with </a:t>
            </a:r>
            <a:r>
              <a:rPr lang="en-IE" sz="2800" dirty="0" err="1"/>
              <a:t>Jquery</a:t>
            </a:r>
            <a:r>
              <a:rPr lang="en-IE" sz="2800" dirty="0"/>
              <a:t>)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A0187-943E-493D-89A2-2BF8F8A81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Web Services and Applications</a:t>
            </a: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7294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C83F-511C-4CC2-95B4-3FC70206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38B2-D5C4-4597-B451-6F4BD945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b="1" dirty="0">
                <a:solidFill>
                  <a:srgbClr val="0070C0"/>
                </a:solidFill>
              </a:rPr>
              <a:t>A</a:t>
            </a:r>
            <a:r>
              <a:rPr lang="en-IE" dirty="0">
                <a:solidFill>
                  <a:srgbClr val="0070C0"/>
                </a:solidFill>
              </a:rPr>
              <a:t>synchronous</a:t>
            </a:r>
            <a:r>
              <a:rPr lang="en-IE" dirty="0"/>
              <a:t>:	Does not block code, the return function gets called when complete</a:t>
            </a:r>
          </a:p>
          <a:p>
            <a:pPr marL="0" indent="0">
              <a:buNone/>
            </a:pPr>
            <a:r>
              <a:rPr lang="en-IE" dirty="0" err="1">
                <a:solidFill>
                  <a:srgbClr val="0070C0"/>
                </a:solidFill>
              </a:rPr>
              <a:t>Javascript</a:t>
            </a:r>
            <a:r>
              <a:rPr lang="en-IE" dirty="0"/>
              <a:t>:	The language</a:t>
            </a:r>
          </a:p>
          <a:p>
            <a:pPr marL="0" indent="0">
              <a:buNone/>
            </a:pPr>
            <a:r>
              <a:rPr lang="en-IE" dirty="0">
                <a:solidFill>
                  <a:srgbClr val="0070C0"/>
                </a:solidFill>
              </a:rPr>
              <a:t>And</a:t>
            </a:r>
            <a:r>
              <a:rPr lang="en-IE" dirty="0"/>
              <a:t> </a:t>
            </a:r>
          </a:p>
          <a:p>
            <a:pPr marL="0" indent="0">
              <a:buNone/>
            </a:pPr>
            <a:r>
              <a:rPr lang="en-IE" dirty="0">
                <a:solidFill>
                  <a:srgbClr val="0070C0"/>
                </a:solidFill>
              </a:rPr>
              <a:t>XML</a:t>
            </a:r>
            <a:r>
              <a:rPr lang="en-IE" dirty="0"/>
              <a:t>:		Well not much anymore, usually JSON or html is used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More info at </a:t>
            </a:r>
            <a:r>
              <a:rPr lang="en-IE" dirty="0">
                <a:hlinkClick r:id="rId2"/>
              </a:rPr>
              <a:t>https://www.w3schools.com/xml/ajax_intro.asp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We will use AJAX with </a:t>
            </a:r>
            <a:r>
              <a:rPr lang="en-IE" dirty="0" err="1"/>
              <a:t>Jquery</a:t>
            </a:r>
            <a:r>
              <a:rPr lang="en-IE" dirty="0"/>
              <a:t> not the plain JavaScript version:</a:t>
            </a:r>
          </a:p>
          <a:p>
            <a:pPr marL="0" indent="0">
              <a:buNone/>
            </a:pPr>
            <a:r>
              <a:rPr lang="en-IE" dirty="0">
                <a:hlinkClick r:id="rId3"/>
              </a:rPr>
              <a:t>https://www.w3schools.com/jquery/jquery_ajax_intro.asp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4355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0908-31AA-4490-89F6-1A45945D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does AJAX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AE01-36EC-419C-B9CE-AD09150E8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1200290"/>
          </a:xfrm>
        </p:spPr>
        <p:txBody>
          <a:bodyPr/>
          <a:lstStyle/>
          <a:p>
            <a:r>
              <a:rPr lang="en-IE" dirty="0"/>
              <a:t>Allows us to call up a resource with HTTP from inside a web page</a:t>
            </a:r>
          </a:p>
        </p:txBody>
      </p:sp>
      <p:pic>
        <p:nvPicPr>
          <p:cNvPr id="1028" name="Picture 4" descr="AJAX">
            <a:extLst>
              <a:ext uri="{FF2B5EF4-FFF2-40B4-BE49-F238E27FC236}">
                <a16:creationId xmlns:a16="http://schemas.microsoft.com/office/drawing/2014/main" id="{491E5359-FA38-41A3-8473-B78BB6AB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407" y="2651061"/>
            <a:ext cx="5419725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4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6545-598D-4B1C-A110-4D280401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Consider this JSON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ACC176BE-DE48-45E8-B4E2-2A6433DDA5E7}"/>
              </a:ext>
            </a:extLst>
          </p:cNvPr>
          <p:cNvSpPr txBox="1"/>
          <p:nvPr/>
        </p:nvSpPr>
        <p:spPr>
          <a:xfrm>
            <a:off x="1647476" y="1950440"/>
            <a:ext cx="6917684" cy="2409825"/>
          </a:xfrm>
          <a:prstGeom prst="rect">
            <a:avLst/>
          </a:prstGeom>
          <a:ln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=""/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hlinkClick r:id="rId2"/>
              </a:rPr>
              <a:t> www.gov.uk/bank-holidays.json 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"GET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"JSON"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	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xhr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"error: 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800" dirty="0">
                <a:solidFill>
                  <a:srgbClr val="D4D4D4"/>
                </a:solidFill>
                <a:effectLst/>
                <a:latin typeface="Monaco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2AEFD-3018-4630-BAC0-8AD208055792}"/>
              </a:ext>
            </a:extLst>
          </p:cNvPr>
          <p:cNvSpPr txBox="1"/>
          <p:nvPr/>
        </p:nvSpPr>
        <p:spPr>
          <a:xfrm>
            <a:off x="1359016" y="4907560"/>
            <a:ext cx="8330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There are 6 attributes: </a:t>
            </a:r>
            <a:r>
              <a:rPr lang="en-IE" dirty="0" err="1"/>
              <a:t>url</a:t>
            </a:r>
            <a:r>
              <a:rPr lang="en-IE" dirty="0"/>
              <a:t>, </a:t>
            </a:r>
            <a:r>
              <a:rPr lang="en-IE" dirty="0" err="1"/>
              <a:t>method,data</a:t>
            </a:r>
            <a:r>
              <a:rPr lang="en-IE" dirty="0"/>
              <a:t>, datatype, success and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The first four have values of type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The last two have values of type function</a:t>
            </a:r>
          </a:p>
        </p:txBody>
      </p:sp>
    </p:spTree>
    <p:extLst>
      <p:ext uri="{BB962C8B-B14F-4D97-AF65-F5344CB8AC3E}">
        <p14:creationId xmlns:p14="http://schemas.microsoft.com/office/powerpoint/2010/main" val="178549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0A12-C0EA-4025-AF71-260CD574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JQuery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03D6-0DF8-4E47-9F02-1464BF472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341535"/>
          </a:xfrm>
        </p:spPr>
        <p:txBody>
          <a:bodyPr>
            <a:normAutofit/>
          </a:bodyPr>
          <a:lstStyle/>
          <a:p>
            <a:r>
              <a:rPr lang="en-IE" dirty="0"/>
              <a:t>We will be using </a:t>
            </a:r>
            <a:r>
              <a:rPr lang="en-IE" dirty="0" err="1"/>
              <a:t>JQuery</a:t>
            </a:r>
            <a:r>
              <a:rPr lang="en-IE" dirty="0"/>
              <a:t> for AJAX,</a:t>
            </a:r>
          </a:p>
          <a:p>
            <a:r>
              <a:rPr lang="en-IE" dirty="0" err="1"/>
              <a:t>JQuery</a:t>
            </a:r>
            <a:r>
              <a:rPr lang="en-IE" dirty="0"/>
              <a:t> is a </a:t>
            </a:r>
            <a:r>
              <a:rPr lang="en-IE" dirty="0" err="1"/>
              <a:t>javascript</a:t>
            </a:r>
            <a:r>
              <a:rPr lang="en-IE" dirty="0"/>
              <a:t> library that make finding and manipulating elements in the HTML DOM tree easier.</a:t>
            </a:r>
          </a:p>
          <a:p>
            <a:r>
              <a:rPr lang="en-IE" dirty="0"/>
              <a:t>I am not going into detail about </a:t>
            </a:r>
            <a:r>
              <a:rPr lang="en-IE" dirty="0" err="1"/>
              <a:t>JQuery</a:t>
            </a:r>
            <a:r>
              <a:rPr lang="en-IE" dirty="0"/>
              <a:t> now</a:t>
            </a:r>
          </a:p>
          <a:p>
            <a:r>
              <a:rPr lang="en-IE" dirty="0"/>
              <a:t>You will need this magic line of code in the header of any page that uses </a:t>
            </a:r>
            <a:r>
              <a:rPr lang="en-IE" dirty="0" err="1"/>
              <a:t>Jquery</a:t>
            </a: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0D005-5699-410A-B9C6-C3F1E004D32C}"/>
              </a:ext>
            </a:extLst>
          </p:cNvPr>
          <p:cNvSpPr txBox="1"/>
          <p:nvPr/>
        </p:nvSpPr>
        <p:spPr>
          <a:xfrm>
            <a:off x="847288" y="4490375"/>
            <a:ext cx="10385569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  &lt;head&gt;</a:t>
            </a:r>
          </a:p>
          <a:p>
            <a:r>
              <a:rPr lang="en-IE" dirty="0"/>
              <a:t>        &lt;script </a:t>
            </a:r>
            <a:r>
              <a:rPr lang="en-IE" dirty="0" err="1"/>
              <a:t>src</a:t>
            </a:r>
            <a:r>
              <a:rPr lang="en-IE" dirty="0"/>
              <a:t>="https://ajax.googleapis.com/ajax/libs/</a:t>
            </a:r>
            <a:r>
              <a:rPr lang="en-IE" dirty="0" err="1"/>
              <a:t>jquery</a:t>
            </a:r>
            <a:r>
              <a:rPr lang="en-IE" dirty="0"/>
              <a:t>/3.4.1/jquery.min.js"&gt;&lt;/script&gt;</a:t>
            </a:r>
          </a:p>
          <a:p>
            <a:r>
              <a:rPr lang="en-IE" dirty="0"/>
              <a:t>  &lt;/head&gt;</a:t>
            </a:r>
          </a:p>
          <a:p>
            <a:endParaRPr lang="en-IE" dirty="0"/>
          </a:p>
          <a:p>
            <a:r>
              <a:rPr lang="en-IE" dirty="0"/>
              <a:t>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58921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6D0E-36A8-4D5B-AB3D-EB16C5C6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$.AJAX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454C8-F69A-4F31-AF66-D7247AA97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1609343"/>
          </a:xfrm>
        </p:spPr>
        <p:txBody>
          <a:bodyPr>
            <a:normAutofit/>
          </a:bodyPr>
          <a:lstStyle/>
          <a:p>
            <a:r>
              <a:rPr lang="en-IE" dirty="0"/>
              <a:t>We will use the $.AJAX function, it takes on parameter, a JSON Object that describes everything</a:t>
            </a:r>
          </a:p>
          <a:p>
            <a:endParaRPr lang="en-IE" dirty="0"/>
          </a:p>
          <a:p>
            <a:r>
              <a:rPr lang="en-IE" dirty="0"/>
              <a:t>EG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BBBD4-238E-441A-BB30-B337D2E4F608}"/>
              </a:ext>
            </a:extLst>
          </p:cNvPr>
          <p:cNvSpPr txBox="1"/>
          <p:nvPr/>
        </p:nvSpPr>
        <p:spPr>
          <a:xfrm>
            <a:off x="2282748" y="2772578"/>
            <a:ext cx="633274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$.ajax({the object that describes everything});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F2DD9D4A-8D07-4CAD-946A-219AAF44B804}"/>
              </a:ext>
            </a:extLst>
          </p:cNvPr>
          <p:cNvSpPr txBox="1"/>
          <p:nvPr/>
        </p:nvSpPr>
        <p:spPr>
          <a:xfrm>
            <a:off x="2217927" y="3758181"/>
            <a:ext cx="6917684" cy="2409825"/>
          </a:xfrm>
          <a:prstGeom prst="rect">
            <a:avLst/>
          </a:prstGeom>
          <a:ln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=""/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$.ajax({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hlinkClick r:id="rId2"/>
              </a:rPr>
              <a:t> www.gov.uk/bank-holidays.json 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"GET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"JSON"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	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xhr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"error: 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800" dirty="0">
                <a:solidFill>
                  <a:srgbClr val="D4D4D4"/>
                </a:solidFill>
                <a:effectLst/>
                <a:latin typeface="Monaco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5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C118-A941-4D3C-A5DB-AE464C476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095538"/>
            <a:ext cx="10058400" cy="2684160"/>
          </a:xfrm>
        </p:spPr>
        <p:txBody>
          <a:bodyPr/>
          <a:lstStyle/>
          <a:p>
            <a:r>
              <a:rPr lang="en-IE" dirty="0" err="1">
                <a:solidFill>
                  <a:srgbClr val="0070C0"/>
                </a:solidFill>
              </a:rPr>
              <a:t>url</a:t>
            </a:r>
            <a:r>
              <a:rPr lang="en-IE" dirty="0"/>
              <a:t>		: the </a:t>
            </a:r>
            <a:r>
              <a:rPr lang="en-IE" dirty="0" err="1"/>
              <a:t>url</a:t>
            </a:r>
            <a:r>
              <a:rPr lang="en-IE" dirty="0"/>
              <a:t> to call</a:t>
            </a:r>
          </a:p>
          <a:p>
            <a:r>
              <a:rPr lang="en-IE" dirty="0">
                <a:solidFill>
                  <a:srgbClr val="0070C0"/>
                </a:solidFill>
              </a:rPr>
              <a:t>method</a:t>
            </a:r>
            <a:r>
              <a:rPr lang="en-IE" dirty="0"/>
              <a:t>	: the HTTP method</a:t>
            </a:r>
          </a:p>
          <a:p>
            <a:r>
              <a:rPr lang="en-IE" dirty="0">
                <a:solidFill>
                  <a:srgbClr val="0070C0"/>
                </a:solidFill>
              </a:rPr>
              <a:t>data</a:t>
            </a:r>
            <a:r>
              <a:rPr lang="en-IE" dirty="0"/>
              <a:t>		: parameters (none in this case)</a:t>
            </a:r>
          </a:p>
          <a:p>
            <a:r>
              <a:rPr lang="en-IE" dirty="0" err="1">
                <a:solidFill>
                  <a:srgbClr val="0070C0"/>
                </a:solidFill>
              </a:rPr>
              <a:t>dataType</a:t>
            </a:r>
            <a:r>
              <a:rPr lang="en-IE" dirty="0"/>
              <a:t>	: that is returned JSON or HTML or XML</a:t>
            </a:r>
          </a:p>
          <a:p>
            <a:r>
              <a:rPr lang="en-IE" dirty="0">
                <a:solidFill>
                  <a:srgbClr val="0070C0"/>
                </a:solidFill>
              </a:rPr>
              <a:t>success</a:t>
            </a:r>
            <a:r>
              <a:rPr lang="en-IE" dirty="0"/>
              <a:t>	:  the function to call if this is a success (with the result from server)</a:t>
            </a:r>
          </a:p>
          <a:p>
            <a:r>
              <a:rPr lang="en-IE" dirty="0">
                <a:solidFill>
                  <a:srgbClr val="0070C0"/>
                </a:solidFill>
              </a:rPr>
              <a:t>error</a:t>
            </a:r>
            <a:r>
              <a:rPr lang="en-IE" dirty="0"/>
              <a:t>		: The function to call if we don’t get a status code in the 200s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1B540982-4757-4B2B-A043-76573D62BD58}"/>
              </a:ext>
            </a:extLst>
          </p:cNvPr>
          <p:cNvSpPr txBox="1"/>
          <p:nvPr/>
        </p:nvSpPr>
        <p:spPr>
          <a:xfrm>
            <a:off x="1748144" y="348143"/>
            <a:ext cx="6917684" cy="2409825"/>
          </a:xfrm>
          <a:prstGeom prst="rect">
            <a:avLst/>
          </a:prstGeom>
          <a:ln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=""/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hlinkClick r:id="rId2"/>
              </a:rPr>
              <a:t> www.gov.uk/bank-holidays.json 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"GET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"JSON"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	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error"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2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xhr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2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"error: 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en-IE" sz="12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:"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800" dirty="0">
                <a:solidFill>
                  <a:srgbClr val="D4D4D4"/>
                </a:solidFill>
                <a:effectLst/>
                <a:latin typeface="Monaco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8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39CA1-878F-7D1E-A3F3-E8F9A1508150}"/>
              </a:ext>
            </a:extLst>
          </p:cNvPr>
          <p:cNvSpPr txBox="1"/>
          <p:nvPr/>
        </p:nvSpPr>
        <p:spPr>
          <a:xfrm>
            <a:off x="1063752" y="5886435"/>
            <a:ext cx="10487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BE AWARE OF CALLBACK HELL (the await function is handy)</a:t>
            </a:r>
            <a:endParaRPr lang="en-IE" sz="2400" b="1" dirty="0"/>
          </a:p>
        </p:txBody>
      </p:sp>
    </p:spTree>
    <p:extLst>
      <p:ext uri="{BB962C8B-B14F-4D97-AF65-F5344CB8AC3E}">
        <p14:creationId xmlns:p14="http://schemas.microsoft.com/office/powerpoint/2010/main" val="3478136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4">
            <a:extLst>
              <a:ext uri="{FF2B5EF4-FFF2-40B4-BE49-F238E27FC236}">
                <a16:creationId xmlns:a16="http://schemas.microsoft.com/office/drawing/2014/main" id="{1363DA70-C43E-4857-A139-1C23E764F0D7}"/>
              </a:ext>
            </a:extLst>
          </p:cNvPr>
          <p:cNvSpPr txBox="1"/>
          <p:nvPr/>
        </p:nvSpPr>
        <p:spPr>
          <a:xfrm>
            <a:off x="2066925" y="1761076"/>
            <a:ext cx="6229350" cy="4476750"/>
          </a:xfrm>
          <a:prstGeom prst="rect">
            <a:avLst/>
          </a:prstGeom>
          <a:ln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=""/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"https://ajax.googleapis.com/ajax/libs/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/3.4.1/jquery.min.js"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read a simple </a:t>
            </a:r>
            <a:r>
              <a:rPr lang="en-IE" sz="10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readJSON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()"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00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readJSON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0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ajax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>
                <a:hlinkClick r:id="rId2"/>
              </a:rPr>
              <a:t>www.gov.uk/bank-</a:t>
            </a:r>
            <a:r>
              <a:rPr lang="en-IE" sz="1000" dirty="0" err="1">
                <a:hlinkClick r:id="rId2"/>
              </a:rPr>
              <a:t>holidays.json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method"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"GET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"data"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"JSON"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success"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</a:t>
            </a:r>
            <a:r>
              <a:rPr lang="en-IE" sz="10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0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},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error"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E" sz="1000" dirty="0" err="1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xhr</a:t>
            </a:r>
            <a:r>
              <a:rPr lang="en-IE" sz="10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0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E" sz="100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</a:t>
            </a:r>
            <a:r>
              <a:rPr lang="en-IE" sz="10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0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"error: 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en-IE" sz="100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E" sz="10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:"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E" sz="10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});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}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IE" sz="10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E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D4D4D4"/>
                </a:solidFill>
                <a:effectLst/>
                <a:latin typeface="Monaco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836A8-A1AD-4CD0-A37F-9D2FDE4923C2}"/>
              </a:ext>
            </a:extLst>
          </p:cNvPr>
          <p:cNvSpPr txBox="1"/>
          <p:nvPr/>
        </p:nvSpPr>
        <p:spPr>
          <a:xfrm>
            <a:off x="1786855" y="746620"/>
            <a:ext cx="739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Putting the code together</a:t>
            </a:r>
          </a:p>
        </p:txBody>
      </p:sp>
    </p:spTree>
    <p:extLst>
      <p:ext uri="{BB962C8B-B14F-4D97-AF65-F5344CB8AC3E}">
        <p14:creationId xmlns:p14="http://schemas.microsoft.com/office/powerpoint/2010/main" val="260901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D30B-0D7E-4AEA-9505-E865F9C6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 the from the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BA7C9-3DB5-4133-8264-CB0ACD3D1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87184"/>
            <a:ext cx="2909582" cy="2349924"/>
          </a:xfrm>
        </p:spPr>
        <p:txBody>
          <a:bodyPr/>
          <a:lstStyle/>
          <a:p>
            <a:r>
              <a:rPr lang="en-IE" dirty="0"/>
              <a:t>Looking at the JSON the northern-Ireland holidays</a:t>
            </a:r>
          </a:p>
          <a:p>
            <a:r>
              <a:rPr lang="en-IE" dirty="0"/>
              <a:t>So the code to extract it is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7B3C97C1-4638-420F-88F3-17DF7ED188CE}"/>
              </a:ext>
            </a:extLst>
          </p:cNvPr>
          <p:cNvSpPr txBox="1"/>
          <p:nvPr/>
        </p:nvSpPr>
        <p:spPr>
          <a:xfrm>
            <a:off x="1302589" y="3671900"/>
            <a:ext cx="5115464" cy="1330415"/>
          </a:xfrm>
          <a:prstGeom prst="rect">
            <a:avLst/>
          </a:prstGeom>
          <a:ln/>
          <a:extLst>
            <a:ext uri="{C572A759-6A51-4108-AA02-DFA0A04FC94B}">
              <ma14:wrappingTextBoxFlag xmlns:lc="http://schemas.openxmlformats.org/drawingml/2006/lockedCanvas" xmlns:ma14="http://schemas.microsoft.com/office/mac/drawingml/2011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v="urn:schemas-microsoft-com:mac:vml" xmlns:mc="http://schemas.openxmlformats.org/markup-compatibility/2006" xmlns:mo="http://schemas.microsoft.com/office/mac/office/2008/main" xmlns:wpc="http://schemas.microsoft.com/office/word/2010/wordprocessingCanvas" xmlns=""/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hols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"northern-</a:t>
            </a:r>
            <a:r>
              <a:rPr lang="en-GB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ireland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GB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events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GB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IE" sz="1200" dirty="0">
              <a:solidFill>
                <a:srgbClr val="4EC9B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4EC9B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hols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Aft>
                <a:spcPts val="0"/>
              </a:spcAft>
            </a:pPr>
            <a:endParaRPr lang="en-IE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E" sz="120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IE" sz="1200" dirty="0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("output").</a:t>
            </a:r>
            <a:r>
              <a:rPr lang="en-IE" sz="1200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innerText</a:t>
            </a:r>
            <a:r>
              <a:rPr lang="en-IE" sz="1200" dirty="0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 hols;</a:t>
            </a:r>
            <a:endParaRPr lang="en-IE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D4D4D4"/>
                </a:solidFill>
                <a:effectLst/>
                <a:latin typeface="Monaco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E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75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C36BE-63E8-4973-A4B3-5C1EA7D8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415" y="1947672"/>
            <a:ext cx="3526006" cy="1609344"/>
          </a:xfrm>
        </p:spPr>
        <p:txBody>
          <a:bodyPr/>
          <a:lstStyle/>
          <a:p>
            <a:r>
              <a:rPr lang="en-IE" dirty="0"/>
              <a:t>Break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10F7F-334D-6C84-E183-04C30878059E}"/>
              </a:ext>
            </a:extLst>
          </p:cNvPr>
          <p:cNvSpPr txBox="1"/>
          <p:nvPr/>
        </p:nvSpPr>
        <p:spPr>
          <a:xfrm>
            <a:off x="3379304" y="4190337"/>
            <a:ext cx="4691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Summary:</a:t>
            </a:r>
          </a:p>
          <a:p>
            <a:pPr lvl="1"/>
            <a:r>
              <a:rPr lang="en-IE" dirty="0"/>
              <a:t>You can call restful APIs from html/</a:t>
            </a:r>
            <a:r>
              <a:rPr lang="en-IE" dirty="0" err="1"/>
              <a:t>javascript</a:t>
            </a:r>
            <a:r>
              <a:rPr lang="en-IE" dirty="0"/>
              <a:t> pages using AJAX</a:t>
            </a:r>
          </a:p>
        </p:txBody>
      </p:sp>
    </p:spTree>
    <p:extLst>
      <p:ext uri="{BB962C8B-B14F-4D97-AF65-F5344CB8AC3E}">
        <p14:creationId xmlns:p14="http://schemas.microsoft.com/office/powerpoint/2010/main" val="370573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3048</TotalTime>
  <Words>855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MS Mincho</vt:lpstr>
      <vt:lpstr>Arial</vt:lpstr>
      <vt:lpstr>Cambria</vt:lpstr>
      <vt:lpstr>Consolas</vt:lpstr>
      <vt:lpstr>Courier New</vt:lpstr>
      <vt:lpstr>Monaco</vt:lpstr>
      <vt:lpstr>Rockwell</vt:lpstr>
      <vt:lpstr>Rockwell Condensed</vt:lpstr>
      <vt:lpstr>Wingdings</vt:lpstr>
      <vt:lpstr>Wood Type</vt:lpstr>
      <vt:lpstr>AJAX (with Jquery)</vt:lpstr>
      <vt:lpstr>AJAX</vt:lpstr>
      <vt:lpstr>What does AJAX do?</vt:lpstr>
      <vt:lpstr>Consider this JSON</vt:lpstr>
      <vt:lpstr>JQuery</vt:lpstr>
      <vt:lpstr>$.AJAX function</vt:lpstr>
      <vt:lpstr>PowerPoint Presentation</vt:lpstr>
      <vt:lpstr>PowerPoint Presentation</vt:lpstr>
      <vt:lpstr>Read the from the JSON</vt:lpstr>
      <vt:lpstr>Break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 (with Jquery)</dc:title>
  <dc:creator>Andrew Beatty</dc:creator>
  <cp:lastModifiedBy>Andrew Beatty</cp:lastModifiedBy>
  <cp:revision>6</cp:revision>
  <dcterms:created xsi:type="dcterms:W3CDTF">2019-10-16T16:22:09Z</dcterms:created>
  <dcterms:modified xsi:type="dcterms:W3CDTF">2026-03-26T15:16:05Z</dcterms:modified>
</cp:coreProperties>
</file>